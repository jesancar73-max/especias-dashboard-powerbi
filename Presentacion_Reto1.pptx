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7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ES" smtClean="0"/>
              <a:t>Reto 1 – Dashboard del “Mercado de las Especias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501BE-4B05-49A9-A869-E7C14CD0A9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97E28-626E-4C2E-92FD-78D41D7D3610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ES" smtClean="0"/>
              <a:t>Reto 1 – Dashboard del “Mercado de las Especias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9930C-6DF2-4111-ADF5-4A2FFF02C05D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83F95-01C5-4863-A9CF-A284CD690943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FA2C0-90FE-4F51-BAE2-50B6977AEB26}" type="datetime1">
              <a:rPr lang="es-ES" smtClean="0"/>
              <a:t>06/02/2026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7B0CF-EE42-46B7-BB7F-49163D66A659}" type="datetime1">
              <a:rPr lang="es-ES" smtClean="0"/>
              <a:t>06/02/2026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6DA7-68D9-480D-B3CC-2543AA61CC89}" type="datetime1">
              <a:rPr lang="es-ES" smtClean="0"/>
              <a:t>06/02/2026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DF044-951C-4D73-B438-A4AD46B1E668}" type="datetime1">
              <a:rPr lang="es-ES" smtClean="0"/>
              <a:t>06/02/2026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7134-5FB6-44A2-A8E9-9254F01D0ACE}" type="datetime1">
              <a:rPr lang="es-ES" smtClean="0"/>
              <a:t>06/02/2026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6D50-CE41-40D1-9D93-281AC5C6B065}" type="datetime1">
              <a:rPr lang="es-ES" smtClean="0"/>
              <a:t>06/02/2026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A99E-C356-4435-B21A-67766CA29CD8}" type="datetime1">
              <a:rPr lang="es-ES" smtClean="0"/>
              <a:t>06/02/2026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5698-4702-4552-ACCF-D64C5F288B99}" type="datetime1">
              <a:rPr lang="es-ES" smtClean="0"/>
              <a:t>06/02/2026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D526-8361-4FC1-8547-0EAB27DAA1C9}" type="datetime1">
              <a:rPr lang="es-ES" smtClean="0"/>
              <a:t>06/02/2026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83229-1F96-4828-8B7E-DF62480BD5A4}" type="datetime1">
              <a:rPr lang="es-ES" smtClean="0"/>
              <a:t>06/02/2026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82DD-06B7-4541-9589-A2859F1F8F57}" type="datetime1">
              <a:rPr lang="es-ES" smtClean="0"/>
              <a:t>06/02/2026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938E2-F33B-4FCC-B97E-DD3921467970}" type="datetime1">
              <a:rPr lang="es-ES" smtClean="0"/>
              <a:t>06/02/2026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ABAC3-A4A9-428E-910F-6C3CF3AC1ED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42910" y="142852"/>
            <a:ext cx="7772400" cy="1143008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Reto</a:t>
            </a:r>
            <a:r>
              <a:rPr lang="en-US" dirty="0" smtClean="0"/>
              <a:t> 1 – Mercado de </a:t>
            </a:r>
            <a:r>
              <a:rPr lang="en-US" dirty="0" err="1" smtClean="0"/>
              <a:t>especias</a:t>
            </a:r>
            <a:r>
              <a:rPr lang="en-US" dirty="0" smtClean="0"/>
              <a:t/>
            </a:r>
            <a:br>
              <a:rPr lang="en-US" dirty="0" smtClean="0"/>
            </a:b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28728" y="857232"/>
            <a:ext cx="6400800" cy="1214446"/>
          </a:xfrm>
        </p:spPr>
        <p:txBody>
          <a:bodyPr/>
          <a:lstStyle/>
          <a:p>
            <a:r>
              <a:rPr lang="es-ES" dirty="0" smtClean="0"/>
              <a:t>Creación de </a:t>
            </a:r>
            <a:r>
              <a:rPr lang="es-ES" dirty="0" err="1" smtClean="0"/>
              <a:t>Dashboard</a:t>
            </a:r>
            <a:r>
              <a:rPr lang="es-ES" dirty="0" smtClean="0"/>
              <a:t> con </a:t>
            </a:r>
            <a:r>
              <a:rPr lang="es-ES" dirty="0" err="1" smtClean="0"/>
              <a:t>PowerBI</a:t>
            </a:r>
            <a:endParaRPr lang="es-ES" dirty="0" smtClean="0"/>
          </a:p>
          <a:p>
            <a:r>
              <a:rPr lang="es-ES" dirty="0" smtClean="0"/>
              <a:t>Jesús Gerardo Sánchez Cárdenas</a:t>
            </a:r>
            <a:endParaRPr lang="es-ES" dirty="0"/>
          </a:p>
        </p:txBody>
      </p:sp>
      <p:pic>
        <p:nvPicPr>
          <p:cNvPr id="1028" name="Picture 4" descr="https://seeklogo.com/images/P/power-bi-microsoft-logo-E4FC8DE4A9-seeklogo.co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071679"/>
            <a:ext cx="5357850" cy="4357718"/>
          </a:xfrm>
          <a:prstGeom prst="rect">
            <a:avLst/>
          </a:prstGeom>
          <a:noFill/>
        </p:spPr>
      </p:pic>
      <p:sp>
        <p:nvSpPr>
          <p:cNvPr id="7" name="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Reto 1 – Dashboard del “Mercado de las Especias”</a:t>
            </a:r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285720" y="5429264"/>
            <a:ext cx="3571900" cy="1285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50" name="Picture 2" descr="https://iconlogovector.com/uploads/images/2025/09/lg-68c75047217a6-Kaggle.web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04" y="5643578"/>
            <a:ext cx="900000" cy="900000"/>
          </a:xfrm>
          <a:prstGeom prst="rect">
            <a:avLst/>
          </a:prstGeom>
          <a:noFill/>
        </p:spPr>
      </p:pic>
      <p:pic>
        <p:nvPicPr>
          <p:cNvPr id="2052" name="Picture 4" descr="https://toolkit.climate.gov/sites/default/files/styles/large/public/organizations/Data.gov_logo.png?itok=OS9NrZE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596" y="5643578"/>
            <a:ext cx="900000" cy="934615"/>
          </a:xfrm>
          <a:prstGeom prst="rect">
            <a:avLst/>
          </a:prstGeom>
          <a:noFill/>
        </p:spPr>
      </p:pic>
      <p:pic>
        <p:nvPicPr>
          <p:cNvPr id="2054" name="Picture 6" descr="https://archive-beta.ics.uci.edu/open-graph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14612" y="5643578"/>
            <a:ext cx="900000" cy="900000"/>
          </a:xfrm>
          <a:prstGeom prst="rect">
            <a:avLst/>
          </a:prstGeom>
          <a:noFill/>
        </p:spPr>
      </p:pic>
      <p:pic>
        <p:nvPicPr>
          <p:cNvPr id="18433" name="Picture 1" descr="C:\Users\Dell\Desktop\FUNDAE\Business Analytics (niv 3)\3.8.- RETO 1\imágenes_presentación\01_portada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28926" y="1142984"/>
            <a:ext cx="6072230" cy="4006389"/>
          </a:xfrm>
          <a:prstGeom prst="rect">
            <a:avLst/>
          </a:prstGeom>
          <a:noFill/>
        </p:spPr>
      </p:pic>
      <p:sp>
        <p:nvSpPr>
          <p:cNvPr id="18" name="17 CuadroTexto"/>
          <p:cNvSpPr txBox="1"/>
          <p:nvPr/>
        </p:nvSpPr>
        <p:spPr>
          <a:xfrm>
            <a:off x="214282" y="1285860"/>
            <a:ext cx="2500330" cy="36933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Objetivo: </a:t>
            </a:r>
            <a:r>
              <a:rPr lang="es-ES" dirty="0" smtClean="0"/>
              <a:t>construir un </a:t>
            </a:r>
            <a:r>
              <a:rPr lang="es-ES" dirty="0" err="1" smtClean="0"/>
              <a:t>dashboard</a:t>
            </a:r>
            <a:r>
              <a:rPr lang="es-ES" dirty="0" smtClean="0"/>
              <a:t> en </a:t>
            </a:r>
            <a:r>
              <a:rPr lang="es-ES" dirty="0" err="1" smtClean="0"/>
              <a:t>Power</a:t>
            </a:r>
            <a:r>
              <a:rPr lang="es-ES" dirty="0" smtClean="0"/>
              <a:t> BI para analizar el rendimiento del Mercado de las Especias.</a:t>
            </a:r>
            <a:br>
              <a:rPr lang="es-ES" dirty="0" smtClean="0"/>
            </a:br>
            <a:r>
              <a:rPr lang="es-ES" dirty="0" smtClean="0"/>
              <a:t>El negocio ficticio agrupa a varias familias/puestos que venden productos por categorías y segmentos, con ventas, beneficio y margen como indicadores clave.</a:t>
            </a:r>
            <a:endParaRPr lang="es-ES" dirty="0"/>
          </a:p>
        </p:txBody>
      </p:sp>
      <p:sp>
        <p:nvSpPr>
          <p:cNvPr id="21" name="20 CuadroTexto"/>
          <p:cNvSpPr txBox="1"/>
          <p:nvPr/>
        </p:nvSpPr>
        <p:spPr>
          <a:xfrm>
            <a:off x="4572000" y="5572140"/>
            <a:ext cx="3643338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Los datos se obtienen a partir de ficheros CSV procedentes de fuentes públicas/referenciales.</a:t>
            </a:r>
            <a:endParaRPr lang="es-ES" dirty="0"/>
          </a:p>
        </p:txBody>
      </p:sp>
      <p:sp>
        <p:nvSpPr>
          <p:cNvPr id="26" name="25 CuadroTexto"/>
          <p:cNvSpPr txBox="1"/>
          <p:nvPr/>
        </p:nvSpPr>
        <p:spPr>
          <a:xfrm>
            <a:off x="1142976" y="428604"/>
            <a:ext cx="6563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i="1" u="sng" dirty="0" smtClean="0"/>
              <a:t>Reto 1 – </a:t>
            </a:r>
            <a:r>
              <a:rPr lang="es-ES" sz="2400" b="1" i="1" u="sng" dirty="0" err="1" smtClean="0"/>
              <a:t>Dashboard</a:t>
            </a:r>
            <a:r>
              <a:rPr lang="es-ES" sz="2400" b="1" i="1" u="sng" dirty="0" smtClean="0"/>
              <a:t> del “Mercado de las Especias”</a:t>
            </a:r>
            <a:endParaRPr lang="es-ES" sz="2400" b="1" u="s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/>
          <p:nvPr/>
        </p:nvSpPr>
        <p:spPr>
          <a:xfrm>
            <a:off x="4500562" y="3357562"/>
            <a:ext cx="4286280" cy="32861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"/>
          <p:cNvSpPr/>
          <p:nvPr/>
        </p:nvSpPr>
        <p:spPr>
          <a:xfrm>
            <a:off x="214282" y="1000108"/>
            <a:ext cx="4143404" cy="357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CuadroTexto"/>
          <p:cNvSpPr txBox="1"/>
          <p:nvPr/>
        </p:nvSpPr>
        <p:spPr>
          <a:xfrm>
            <a:off x="1142976" y="428604"/>
            <a:ext cx="6634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i="1" u="sng" dirty="0" smtClean="0"/>
              <a:t>Proceso seguido (ETL → Modelo → Visualización) 1</a:t>
            </a:r>
            <a:endParaRPr lang="es-ES" sz="2400" b="1" u="sng" dirty="0"/>
          </a:p>
        </p:txBody>
      </p:sp>
      <p:pic>
        <p:nvPicPr>
          <p:cNvPr id="20482" name="Picture 2" descr="C:\Users\Dell\Desktop\FUNDAE\Business Analytics (niv 3)\3.8.- RETO 1\imágenes_presentación\Captura de pantalla (6086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071546"/>
            <a:ext cx="3876460" cy="3429024"/>
          </a:xfrm>
          <a:prstGeom prst="rect">
            <a:avLst/>
          </a:prstGeom>
          <a:noFill/>
        </p:spPr>
      </p:pic>
      <p:pic>
        <p:nvPicPr>
          <p:cNvPr id="20483" name="Picture 3" descr="C:\Users\Dell\Desktop\FUNDAE\Business Analytics (niv 3)\3.8.- RETO 1\imágenes_presentación\pq_tipo_cambiado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12378" y="3429000"/>
            <a:ext cx="4099920" cy="3143272"/>
          </a:xfrm>
          <a:prstGeom prst="rect">
            <a:avLst/>
          </a:prstGeom>
          <a:noFill/>
        </p:spPr>
      </p:pic>
      <p:sp>
        <p:nvSpPr>
          <p:cNvPr id="22" name="21 CuadroTexto"/>
          <p:cNvSpPr txBox="1"/>
          <p:nvPr/>
        </p:nvSpPr>
        <p:spPr>
          <a:xfrm>
            <a:off x="6215074" y="1071546"/>
            <a:ext cx="1857388" cy="2031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Recolección:</a:t>
            </a:r>
            <a:r>
              <a:rPr lang="es-ES" dirty="0" smtClean="0"/>
              <a:t> descarga y obtención de CSV (dimensiones y hechos) para análisis del mercado.</a:t>
            </a:r>
            <a:endParaRPr lang="es-ES" dirty="0"/>
          </a:p>
        </p:txBody>
      </p:sp>
      <p:sp>
        <p:nvSpPr>
          <p:cNvPr id="23" name="22 Flecha derecha"/>
          <p:cNvSpPr/>
          <p:nvPr/>
        </p:nvSpPr>
        <p:spPr>
          <a:xfrm>
            <a:off x="4857752" y="185736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23 CuadroTexto"/>
          <p:cNvSpPr txBox="1"/>
          <p:nvPr/>
        </p:nvSpPr>
        <p:spPr>
          <a:xfrm>
            <a:off x="428596" y="4857760"/>
            <a:ext cx="2643206" cy="14773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Transformación (</a:t>
            </a:r>
            <a:r>
              <a:rPr lang="es-ES" b="1" dirty="0" err="1" smtClean="0"/>
              <a:t>Power</a:t>
            </a:r>
            <a:r>
              <a:rPr lang="es-ES" b="1" dirty="0" smtClean="0"/>
              <a:t> </a:t>
            </a:r>
            <a:r>
              <a:rPr lang="es-ES" b="1" dirty="0" err="1" smtClean="0"/>
              <a:t>Query</a:t>
            </a:r>
            <a:r>
              <a:rPr lang="es-ES" b="1" dirty="0" smtClean="0"/>
              <a:t>):</a:t>
            </a:r>
            <a:r>
              <a:rPr lang="es-ES" dirty="0" smtClean="0"/>
              <a:t> limpieza y </a:t>
            </a:r>
            <a:r>
              <a:rPr lang="es-ES" dirty="0" err="1" smtClean="0"/>
              <a:t>tipado</a:t>
            </a:r>
            <a:r>
              <a:rPr lang="es-ES" dirty="0" smtClean="0"/>
              <a:t> de campos (moneda y porcentajes) para consistencia.</a:t>
            </a:r>
            <a:endParaRPr lang="es-ES" dirty="0"/>
          </a:p>
        </p:txBody>
      </p:sp>
      <p:sp>
        <p:nvSpPr>
          <p:cNvPr id="25" name="24 Flecha derecha"/>
          <p:cNvSpPr/>
          <p:nvPr/>
        </p:nvSpPr>
        <p:spPr>
          <a:xfrm rot="10800000">
            <a:off x="3286116" y="535782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/>
          <p:nvPr/>
        </p:nvSpPr>
        <p:spPr>
          <a:xfrm>
            <a:off x="142844" y="4429132"/>
            <a:ext cx="2857520" cy="17145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"/>
          <p:cNvSpPr/>
          <p:nvPr/>
        </p:nvSpPr>
        <p:spPr>
          <a:xfrm>
            <a:off x="6786578" y="3714752"/>
            <a:ext cx="2143140" cy="2928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Rectángulo"/>
          <p:cNvSpPr/>
          <p:nvPr/>
        </p:nvSpPr>
        <p:spPr>
          <a:xfrm>
            <a:off x="285720" y="1071546"/>
            <a:ext cx="4643470" cy="3143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CuadroTexto"/>
          <p:cNvSpPr txBox="1"/>
          <p:nvPr/>
        </p:nvSpPr>
        <p:spPr>
          <a:xfrm>
            <a:off x="1142976" y="428604"/>
            <a:ext cx="6634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i="1" u="sng" dirty="0" smtClean="0"/>
              <a:t>Proceso seguido (ETL → Modelo → Visualización) 2</a:t>
            </a:r>
            <a:endParaRPr lang="es-ES" sz="2400" b="1" u="sng" dirty="0"/>
          </a:p>
        </p:txBody>
      </p:sp>
      <p:pic>
        <p:nvPicPr>
          <p:cNvPr id="20484" name="Picture 4" descr="C:\Users\Dell\Desktop\FUNDAE\Business Analytics (niv 3)\3.8.- RETO 1\imágenes_presentación\Captura de pantalla (6088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4471826" cy="3000396"/>
          </a:xfrm>
          <a:prstGeom prst="rect">
            <a:avLst/>
          </a:prstGeom>
          <a:noFill/>
        </p:spPr>
      </p:pic>
      <p:pic>
        <p:nvPicPr>
          <p:cNvPr id="20486" name="Picture 6" descr="C:\Users\Dell\Desktop\FUNDAE\Business Analytics (niv 3)\3.8.- RETO 1\imágenes_presentación\Captura de pantalla (6071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5072074"/>
            <a:ext cx="2428892" cy="466418"/>
          </a:xfrm>
          <a:prstGeom prst="rect">
            <a:avLst/>
          </a:prstGeom>
          <a:noFill/>
        </p:spPr>
      </p:pic>
      <p:pic>
        <p:nvPicPr>
          <p:cNvPr id="20487" name="Picture 7" descr="C:\Users\Dell\Desktop\FUNDAE\Business Analytics (niv 3)\3.8.- RETO 1\imágenes_presentación\Captura de pantalla (6072)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282" y="5643578"/>
            <a:ext cx="2714644" cy="385665"/>
          </a:xfrm>
          <a:prstGeom prst="rect">
            <a:avLst/>
          </a:prstGeom>
          <a:noFill/>
        </p:spPr>
      </p:pic>
      <p:pic>
        <p:nvPicPr>
          <p:cNvPr id="20488" name="Picture 8" descr="C:\Users\Dell\Desktop\FUNDAE\Business Analytics (niv 3)\3.8.- RETO 1\imágenes_presentación\Captura de pantalla (6073)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5720" y="4572008"/>
            <a:ext cx="2500330" cy="392078"/>
          </a:xfrm>
          <a:prstGeom prst="rect">
            <a:avLst/>
          </a:prstGeom>
          <a:noFill/>
        </p:spPr>
      </p:pic>
      <p:pic>
        <p:nvPicPr>
          <p:cNvPr id="21506" name="Picture 2" descr="C:\Users\Dell\Desktop\FUNDAE\Business Analytics (niv 3)\3.8.- RETO 1\imágenes_presentación\medidas_lista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858016" y="3786190"/>
            <a:ext cx="2031954" cy="2747172"/>
          </a:xfrm>
          <a:prstGeom prst="rect">
            <a:avLst/>
          </a:prstGeom>
          <a:noFill/>
        </p:spPr>
      </p:pic>
      <p:sp>
        <p:nvSpPr>
          <p:cNvPr id="14" name="13 CuadroTexto"/>
          <p:cNvSpPr txBox="1"/>
          <p:nvPr/>
        </p:nvSpPr>
        <p:spPr>
          <a:xfrm>
            <a:off x="6786578" y="1142985"/>
            <a:ext cx="2143140" cy="2031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Modelado:</a:t>
            </a:r>
            <a:r>
              <a:rPr lang="es-ES" dirty="0" smtClean="0"/>
              <a:t> relaciones entre tablas (dimensiones ↔ hechos) para análisis por tiempo, producto, cliente y región.</a:t>
            </a:r>
            <a:endParaRPr lang="es-ES" dirty="0"/>
          </a:p>
        </p:txBody>
      </p:sp>
      <p:sp>
        <p:nvSpPr>
          <p:cNvPr id="15" name="14 Flecha derecha"/>
          <p:cNvSpPr/>
          <p:nvPr/>
        </p:nvSpPr>
        <p:spPr>
          <a:xfrm>
            <a:off x="5357818" y="178592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CuadroTexto"/>
          <p:cNvSpPr txBox="1"/>
          <p:nvPr/>
        </p:nvSpPr>
        <p:spPr>
          <a:xfrm>
            <a:off x="3214678" y="4429132"/>
            <a:ext cx="2071702" cy="175432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DAX (</a:t>
            </a:r>
            <a:r>
              <a:rPr lang="es-ES" b="1" dirty="0" err="1" smtClean="0"/>
              <a:t>KPIs</a:t>
            </a:r>
            <a:r>
              <a:rPr lang="es-ES" b="1" dirty="0" smtClean="0"/>
              <a:t>):</a:t>
            </a:r>
            <a:r>
              <a:rPr lang="es-ES" dirty="0" smtClean="0"/>
              <a:t> creación de medidas para </a:t>
            </a:r>
            <a:r>
              <a:rPr lang="es-ES" b="1" dirty="0" smtClean="0"/>
              <a:t>Ventas Netas</a:t>
            </a:r>
            <a:r>
              <a:rPr lang="es-ES" dirty="0" smtClean="0"/>
              <a:t>, </a:t>
            </a:r>
            <a:r>
              <a:rPr lang="es-ES" b="1" dirty="0" smtClean="0"/>
              <a:t>Beneficio</a:t>
            </a:r>
            <a:r>
              <a:rPr lang="es-ES" dirty="0" smtClean="0"/>
              <a:t> y </a:t>
            </a:r>
            <a:r>
              <a:rPr lang="es-ES" b="1" dirty="0" smtClean="0"/>
              <a:t>Margen %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18" name="17 Flecha derecha"/>
          <p:cNvSpPr/>
          <p:nvPr/>
        </p:nvSpPr>
        <p:spPr>
          <a:xfrm rot="10800000">
            <a:off x="5429256" y="50006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25 CuadroTexto"/>
          <p:cNvSpPr txBox="1"/>
          <p:nvPr/>
        </p:nvSpPr>
        <p:spPr>
          <a:xfrm>
            <a:off x="2214546" y="428604"/>
            <a:ext cx="4910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i="1" u="sng" dirty="0" err="1" smtClean="0"/>
              <a:t>KPIs</a:t>
            </a:r>
            <a:r>
              <a:rPr lang="es-ES" sz="2400" b="1" i="1" u="sng" dirty="0" smtClean="0"/>
              <a:t> y qué nos revelan del mercado 1</a:t>
            </a:r>
            <a:endParaRPr lang="es-ES" sz="2400" b="1" i="1" u="sng" dirty="0"/>
          </a:p>
        </p:txBody>
      </p:sp>
      <p:pic>
        <p:nvPicPr>
          <p:cNvPr id="22530" name="Picture 2" descr="C:\Users\Dell\Desktop\FUNDAE\Business Analytics (niv 3)\3.8.- RETO 1\imágenes_presentación\02_tempora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3" y="1071546"/>
            <a:ext cx="5967535" cy="4071966"/>
          </a:xfrm>
          <a:prstGeom prst="rect">
            <a:avLst/>
          </a:prstGeom>
          <a:noFill/>
        </p:spPr>
      </p:pic>
      <p:sp>
        <p:nvSpPr>
          <p:cNvPr id="21" name="20 CuadroTexto"/>
          <p:cNvSpPr txBox="1"/>
          <p:nvPr/>
        </p:nvSpPr>
        <p:spPr>
          <a:xfrm>
            <a:off x="6357950" y="1285860"/>
            <a:ext cx="2571768" cy="14773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err="1" smtClean="0"/>
              <a:t>KPIs</a:t>
            </a:r>
            <a:r>
              <a:rPr lang="es-ES" dirty="0" smtClean="0"/>
              <a:t> monitorizados: </a:t>
            </a:r>
            <a:r>
              <a:rPr lang="es-ES" b="1" dirty="0" smtClean="0"/>
              <a:t>Ventas Netas</a:t>
            </a:r>
            <a:r>
              <a:rPr lang="es-ES" dirty="0" smtClean="0"/>
              <a:t>, </a:t>
            </a:r>
            <a:r>
              <a:rPr lang="es-ES" b="1" dirty="0" smtClean="0"/>
              <a:t>Beneficio</a:t>
            </a:r>
            <a:r>
              <a:rPr lang="es-ES" dirty="0" smtClean="0"/>
              <a:t> y </a:t>
            </a:r>
            <a:r>
              <a:rPr lang="es-ES" b="1" dirty="0" smtClean="0"/>
              <a:t>Margen %</a:t>
            </a:r>
            <a:r>
              <a:rPr lang="es-ES" dirty="0" smtClean="0"/>
              <a:t>, con filtros por periodo y segmento/categoría.</a:t>
            </a:r>
            <a:endParaRPr lang="es-ES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357950" y="3214686"/>
            <a:ext cx="2500330" cy="14773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La evolución temporal permite detectar </a:t>
            </a:r>
            <a:r>
              <a:rPr lang="es-ES" b="1" dirty="0" smtClean="0"/>
              <a:t>picos de demanda</a:t>
            </a:r>
            <a:r>
              <a:rPr lang="es-ES" dirty="0" smtClean="0"/>
              <a:t> y </a:t>
            </a:r>
            <a:r>
              <a:rPr lang="es-ES" b="1" dirty="0" smtClean="0"/>
              <a:t>caídas</a:t>
            </a:r>
            <a:r>
              <a:rPr lang="es-ES" dirty="0" smtClean="0"/>
              <a:t> para planificar compras, stock y turnos.</a:t>
            </a:r>
            <a:endParaRPr lang="es-ES" dirty="0"/>
          </a:p>
        </p:txBody>
      </p:sp>
      <p:sp>
        <p:nvSpPr>
          <p:cNvPr id="23" name="22 CuadroTexto"/>
          <p:cNvSpPr txBox="1"/>
          <p:nvPr/>
        </p:nvSpPr>
        <p:spPr>
          <a:xfrm>
            <a:off x="285720" y="5357826"/>
            <a:ext cx="3500462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Se identifican </a:t>
            </a:r>
            <a:r>
              <a:rPr lang="es-ES" b="1" dirty="0" smtClean="0"/>
              <a:t>periodos de mayor rentabilidad</a:t>
            </a:r>
            <a:r>
              <a:rPr lang="es-ES" dirty="0" smtClean="0"/>
              <a:t> (margen) frente a periodos donde crecen ventas pero baja el margen.</a:t>
            </a:r>
            <a:endParaRPr lang="es-ES" dirty="0"/>
          </a:p>
        </p:txBody>
      </p:sp>
      <p:sp>
        <p:nvSpPr>
          <p:cNvPr id="24" name="23 CuadroTexto"/>
          <p:cNvSpPr txBox="1"/>
          <p:nvPr/>
        </p:nvSpPr>
        <p:spPr>
          <a:xfrm>
            <a:off x="4214810" y="5357826"/>
            <a:ext cx="3500462" cy="121444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err="1" smtClean="0"/>
              <a:t>Insight</a:t>
            </a:r>
            <a:r>
              <a:rPr lang="es-ES" dirty="0" smtClean="0"/>
              <a:t> operativo: ajustar </a:t>
            </a:r>
            <a:r>
              <a:rPr lang="es-ES" b="1" dirty="0" smtClean="0"/>
              <a:t>promociones</a:t>
            </a:r>
            <a:r>
              <a:rPr lang="es-ES" dirty="0" smtClean="0"/>
              <a:t> y </a:t>
            </a:r>
            <a:r>
              <a:rPr lang="es-ES" b="1" dirty="0" smtClean="0"/>
              <a:t>precios</a:t>
            </a:r>
            <a:r>
              <a:rPr lang="es-ES" dirty="0" smtClean="0"/>
              <a:t> en semanas/meses con menor margen para sostener rentabilidad.</a:t>
            </a:r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25 CuadroTexto"/>
          <p:cNvSpPr txBox="1"/>
          <p:nvPr/>
        </p:nvSpPr>
        <p:spPr>
          <a:xfrm>
            <a:off x="2214546" y="428604"/>
            <a:ext cx="4910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i="1" u="sng" dirty="0" err="1" smtClean="0"/>
              <a:t>KPIs</a:t>
            </a:r>
            <a:r>
              <a:rPr lang="es-ES" sz="2400" b="1" i="1" u="sng" dirty="0" smtClean="0"/>
              <a:t> y qué nos revelan del mercado 2</a:t>
            </a:r>
            <a:endParaRPr lang="es-ES" sz="2400" b="1" i="1" u="sng" dirty="0"/>
          </a:p>
        </p:txBody>
      </p:sp>
      <p:sp>
        <p:nvSpPr>
          <p:cNvPr id="21" name="20 CuadroTexto"/>
          <p:cNvSpPr txBox="1"/>
          <p:nvPr/>
        </p:nvSpPr>
        <p:spPr>
          <a:xfrm>
            <a:off x="6357950" y="1285860"/>
            <a:ext cx="2571768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Visualización del </a:t>
            </a:r>
            <a:r>
              <a:rPr lang="es-ES" b="1" dirty="0" err="1" smtClean="0"/>
              <a:t>mix</a:t>
            </a:r>
            <a:r>
              <a:rPr lang="es-ES" b="1" dirty="0" smtClean="0"/>
              <a:t> de ventas</a:t>
            </a:r>
            <a:r>
              <a:rPr lang="es-ES" dirty="0" smtClean="0"/>
              <a:t> y la aportación al </a:t>
            </a:r>
            <a:r>
              <a:rPr lang="es-ES" b="1" dirty="0" smtClean="0"/>
              <a:t>beneficio</a:t>
            </a:r>
            <a:r>
              <a:rPr lang="es-ES" dirty="0" smtClean="0"/>
              <a:t> por </a:t>
            </a:r>
            <a:r>
              <a:rPr lang="es-ES" b="1" dirty="0" smtClean="0"/>
              <a:t>categoría/producto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357950" y="3071810"/>
            <a:ext cx="2500330" cy="175432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Permite localizar </a:t>
            </a:r>
            <a:r>
              <a:rPr lang="es-ES" b="1" dirty="0" smtClean="0"/>
              <a:t>productos “estrella”</a:t>
            </a:r>
            <a:r>
              <a:rPr lang="es-ES" dirty="0" smtClean="0"/>
              <a:t> (alta venta + alto margen) y </a:t>
            </a:r>
            <a:r>
              <a:rPr lang="es-ES" b="1" dirty="0" smtClean="0"/>
              <a:t>productos “tracción”</a:t>
            </a:r>
            <a:r>
              <a:rPr lang="es-ES" dirty="0" smtClean="0"/>
              <a:t> (alta venta pero margen bajo).</a:t>
            </a:r>
            <a:endParaRPr lang="es-ES" dirty="0"/>
          </a:p>
        </p:txBody>
      </p:sp>
      <p:sp>
        <p:nvSpPr>
          <p:cNvPr id="23" name="22 CuadroTexto"/>
          <p:cNvSpPr txBox="1"/>
          <p:nvPr/>
        </p:nvSpPr>
        <p:spPr>
          <a:xfrm>
            <a:off x="285720" y="5357826"/>
            <a:ext cx="3500462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Se detectan categorías con </a:t>
            </a:r>
            <a:r>
              <a:rPr lang="es-ES" b="1" dirty="0" smtClean="0"/>
              <a:t>oportunidad de mejora</a:t>
            </a:r>
            <a:r>
              <a:rPr lang="es-ES" dirty="0" smtClean="0"/>
              <a:t>: revisar coste, precio, promociones o surtido.</a:t>
            </a:r>
            <a:endParaRPr lang="es-ES" dirty="0"/>
          </a:p>
        </p:txBody>
      </p:sp>
      <p:sp>
        <p:nvSpPr>
          <p:cNvPr id="24" name="23 CuadroTexto"/>
          <p:cNvSpPr txBox="1"/>
          <p:nvPr/>
        </p:nvSpPr>
        <p:spPr>
          <a:xfrm>
            <a:off x="4214810" y="5357826"/>
            <a:ext cx="3500462" cy="121444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Acción recomendada: </a:t>
            </a:r>
            <a:r>
              <a:rPr lang="es-ES" b="1" dirty="0" smtClean="0"/>
              <a:t>priorizar inventario</a:t>
            </a:r>
            <a:r>
              <a:rPr lang="es-ES" dirty="0" smtClean="0"/>
              <a:t> y visibilidad para los productos con mayor contribución al beneficio.</a:t>
            </a:r>
            <a:endParaRPr lang="es-ES" dirty="0"/>
          </a:p>
        </p:txBody>
      </p:sp>
      <p:pic>
        <p:nvPicPr>
          <p:cNvPr id="23554" name="Picture 2" descr="C:\Users\Dell\Desktop\FUNDAE\Business Analytics (niv 3)\3.8.- RETO 1\imágenes_presentación\03_producto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142984"/>
            <a:ext cx="5896866" cy="38576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25 CuadroTexto"/>
          <p:cNvSpPr txBox="1"/>
          <p:nvPr/>
        </p:nvSpPr>
        <p:spPr>
          <a:xfrm>
            <a:off x="2214546" y="428604"/>
            <a:ext cx="4910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i="1" u="sng" dirty="0" err="1" smtClean="0"/>
              <a:t>KPIs</a:t>
            </a:r>
            <a:r>
              <a:rPr lang="es-ES" sz="2400" b="1" i="1" u="sng" dirty="0" smtClean="0"/>
              <a:t> y qué nos revelan del mercado 3</a:t>
            </a:r>
            <a:endParaRPr lang="es-ES" sz="2400" b="1" i="1" u="sng" dirty="0"/>
          </a:p>
        </p:txBody>
      </p:sp>
      <p:sp>
        <p:nvSpPr>
          <p:cNvPr id="21" name="20 CuadroTexto"/>
          <p:cNvSpPr txBox="1"/>
          <p:nvPr/>
        </p:nvSpPr>
        <p:spPr>
          <a:xfrm>
            <a:off x="6357950" y="1285860"/>
            <a:ext cx="2571768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Segmentación de resultados por </a:t>
            </a:r>
            <a:r>
              <a:rPr lang="es-ES" b="1" dirty="0" smtClean="0"/>
              <a:t>clientes y países</a:t>
            </a:r>
            <a:r>
              <a:rPr lang="es-ES" dirty="0" smtClean="0"/>
              <a:t> para entender dónde se genera el valor.</a:t>
            </a:r>
            <a:endParaRPr lang="es-ES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357950" y="3071810"/>
            <a:ext cx="2500330" cy="14773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Identifica </a:t>
            </a:r>
            <a:r>
              <a:rPr lang="es-ES" b="1" dirty="0" smtClean="0"/>
              <a:t>concentración de ventas</a:t>
            </a:r>
            <a:r>
              <a:rPr lang="es-ES" dirty="0" smtClean="0"/>
              <a:t>: pocos clientes/zonas pueden estar aportando gran parte del rendimiento.</a:t>
            </a:r>
            <a:endParaRPr lang="es-ES" dirty="0"/>
          </a:p>
        </p:txBody>
      </p:sp>
      <p:sp>
        <p:nvSpPr>
          <p:cNvPr id="23" name="22 CuadroTexto"/>
          <p:cNvSpPr txBox="1"/>
          <p:nvPr/>
        </p:nvSpPr>
        <p:spPr>
          <a:xfrm>
            <a:off x="285720" y="5357826"/>
            <a:ext cx="3500462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Permite comparar </a:t>
            </a:r>
            <a:r>
              <a:rPr lang="es-ES" b="1" dirty="0" smtClean="0"/>
              <a:t>rentabilidad por cliente/país</a:t>
            </a:r>
            <a:r>
              <a:rPr lang="es-ES" dirty="0" smtClean="0"/>
              <a:t> (no solo volumen), detectando clientes con buen margen vs. margen bajo.</a:t>
            </a:r>
            <a:endParaRPr lang="es-ES" dirty="0"/>
          </a:p>
        </p:txBody>
      </p:sp>
      <p:sp>
        <p:nvSpPr>
          <p:cNvPr id="24" name="23 CuadroTexto"/>
          <p:cNvSpPr txBox="1"/>
          <p:nvPr/>
        </p:nvSpPr>
        <p:spPr>
          <a:xfrm>
            <a:off x="4214810" y="5357826"/>
            <a:ext cx="3500462" cy="121444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/>
              <a:t>Acción recomendada: diseñar campañas y acuerdos para </a:t>
            </a:r>
            <a:r>
              <a:rPr lang="es-ES" b="1" dirty="0" smtClean="0"/>
              <a:t>retener clientes rentables</a:t>
            </a:r>
            <a:r>
              <a:rPr lang="es-ES" dirty="0" smtClean="0"/>
              <a:t> y mejorar condiciones en los de bajo margen.</a:t>
            </a:r>
            <a:endParaRPr lang="es-ES" dirty="0"/>
          </a:p>
        </p:txBody>
      </p:sp>
      <p:pic>
        <p:nvPicPr>
          <p:cNvPr id="24578" name="Picture 2" descr="C:\Users\Dell\Desktop\FUNDAE\Business Analytics (niv 3)\3.8.- RETO 1\imágenes_presentación\04_cliente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1" y="1142984"/>
            <a:ext cx="6000793" cy="38575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Elipse"/>
          <p:cNvSpPr/>
          <p:nvPr/>
        </p:nvSpPr>
        <p:spPr>
          <a:xfrm>
            <a:off x="6215074" y="4643446"/>
            <a:ext cx="2928926" cy="221455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CuadroTexto"/>
          <p:cNvSpPr txBox="1"/>
          <p:nvPr/>
        </p:nvSpPr>
        <p:spPr>
          <a:xfrm>
            <a:off x="1928794" y="428604"/>
            <a:ext cx="5421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i="1" u="sng" dirty="0" smtClean="0"/>
              <a:t>Conclusiones y decisiones recomendadas</a:t>
            </a:r>
            <a:endParaRPr lang="es-ES" sz="2400" b="1" i="1" u="sng" dirty="0"/>
          </a:p>
        </p:txBody>
      </p:sp>
      <p:sp>
        <p:nvSpPr>
          <p:cNvPr id="21" name="20 CuadroTexto"/>
          <p:cNvSpPr txBox="1"/>
          <p:nvPr/>
        </p:nvSpPr>
        <p:spPr>
          <a:xfrm>
            <a:off x="6357950" y="1285860"/>
            <a:ext cx="2571768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Priorizar</a:t>
            </a:r>
            <a:r>
              <a:rPr lang="es-ES" dirty="0" smtClean="0"/>
              <a:t> categorías/segmentos con mejor </a:t>
            </a:r>
            <a:r>
              <a:rPr lang="es-ES" b="1" dirty="0" smtClean="0"/>
              <a:t>margen</a:t>
            </a:r>
            <a:r>
              <a:rPr lang="es-ES" dirty="0" smtClean="0"/>
              <a:t> y contribución al beneficio.</a:t>
            </a:r>
            <a:endParaRPr lang="es-ES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357950" y="3071810"/>
            <a:ext cx="2500330" cy="14773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Planificar</a:t>
            </a:r>
            <a:r>
              <a:rPr lang="es-ES" dirty="0" smtClean="0"/>
              <a:t> inventario y campañas según la </a:t>
            </a:r>
            <a:r>
              <a:rPr lang="es-ES" b="1" dirty="0" smtClean="0"/>
              <a:t>estacionalidad</a:t>
            </a:r>
            <a:r>
              <a:rPr lang="es-ES" dirty="0" smtClean="0"/>
              <a:t> observada en la tendencia temporal.</a:t>
            </a:r>
            <a:endParaRPr lang="es-ES" dirty="0"/>
          </a:p>
        </p:txBody>
      </p:sp>
      <p:sp>
        <p:nvSpPr>
          <p:cNvPr id="23" name="22 CuadroTexto"/>
          <p:cNvSpPr txBox="1"/>
          <p:nvPr/>
        </p:nvSpPr>
        <p:spPr>
          <a:xfrm>
            <a:off x="285720" y="5357826"/>
            <a:ext cx="2714644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Focalizar</a:t>
            </a:r>
            <a:r>
              <a:rPr lang="es-ES" dirty="0" smtClean="0"/>
              <a:t> esfuerzos comerciales en países/clientes/regiones con mayor retorno.</a:t>
            </a:r>
            <a:endParaRPr lang="es-ES" dirty="0"/>
          </a:p>
        </p:txBody>
      </p:sp>
      <p:sp>
        <p:nvSpPr>
          <p:cNvPr id="24" name="23 CuadroTexto"/>
          <p:cNvSpPr txBox="1"/>
          <p:nvPr/>
        </p:nvSpPr>
        <p:spPr>
          <a:xfrm>
            <a:off x="3500430" y="5143512"/>
            <a:ext cx="2428892" cy="14773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Revisar</a:t>
            </a:r>
            <a:r>
              <a:rPr lang="es-ES" dirty="0" smtClean="0"/>
              <a:t> productos/puestos con bajo margen (precio, coste, </a:t>
            </a:r>
            <a:r>
              <a:rPr lang="es-ES" dirty="0" err="1" smtClean="0"/>
              <a:t>mix</a:t>
            </a:r>
            <a:r>
              <a:rPr lang="es-ES" dirty="0" smtClean="0"/>
              <a:t>, promociones).</a:t>
            </a:r>
            <a:endParaRPr lang="es-ES" dirty="0"/>
          </a:p>
        </p:txBody>
      </p:sp>
      <p:pic>
        <p:nvPicPr>
          <p:cNvPr id="25602" name="Picture 2" descr="C:\Users\Dell\Desktop\FUNDAE\Business Analytics (niv 3)\3.8.- RETO 1\imágenes_presentación\06_storytellin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214422"/>
            <a:ext cx="6000760" cy="3628385"/>
          </a:xfrm>
          <a:prstGeom prst="rect">
            <a:avLst/>
          </a:prstGeom>
          <a:noFill/>
        </p:spPr>
      </p:pic>
      <p:sp>
        <p:nvSpPr>
          <p:cNvPr id="9" name="8 CuadroTexto"/>
          <p:cNvSpPr txBox="1"/>
          <p:nvPr/>
        </p:nvSpPr>
        <p:spPr>
          <a:xfrm>
            <a:off x="6572264" y="4857760"/>
            <a:ext cx="2214578" cy="1754326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76200" prstMaterial="dkEdge">
            <a:extrusionClr>
              <a:schemeClr val="tx2">
                <a:lumMod val="40000"/>
                <a:lumOff val="60000"/>
              </a:schemeClr>
            </a:extrusionClr>
          </a:sp3d>
        </p:spPr>
        <p:txBody>
          <a:bodyPr wrap="square" rtlCol="0">
            <a:spAutoFit/>
          </a:bodyPr>
          <a:lstStyle/>
          <a:p>
            <a:r>
              <a:rPr lang="es-ES" dirty="0" smtClean="0"/>
              <a:t>El </a:t>
            </a:r>
            <a:r>
              <a:rPr lang="es-ES" dirty="0" err="1" smtClean="0"/>
              <a:t>dashboard</a:t>
            </a:r>
            <a:r>
              <a:rPr lang="es-ES" dirty="0" smtClean="0"/>
              <a:t> permite a las familias del mercado </a:t>
            </a:r>
            <a:r>
              <a:rPr lang="es-ES" b="1" dirty="0" smtClean="0">
                <a:blipFill>
                  <a:blip r:embed="rId4"/>
                  <a:tile tx="0" ty="0" sx="100000" sy="100000" flip="none" algn="tl"/>
                </a:blipFill>
              </a:rPr>
              <a:t>tomar</a:t>
            </a:r>
            <a:r>
              <a:rPr lang="es-ES" b="1" dirty="0" smtClean="0"/>
              <a:t> decisiones basadas en datos</a:t>
            </a:r>
            <a:r>
              <a:rPr lang="es-ES" dirty="0" smtClean="0"/>
              <a:t> y medir impacto con filtros.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465</Words>
  <Application>Microsoft Office PowerPoint</Application>
  <PresentationFormat>Presentación en pantalla (4:3)</PresentationFormat>
  <Paragraphs>34</Paragraphs>
  <Slides>8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Reto 1 – Mercado de especias 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 1 – Mercado de especias</dc:title>
  <dc:creator>Dell</dc:creator>
  <cp:lastModifiedBy>Dell</cp:lastModifiedBy>
  <cp:revision>20</cp:revision>
  <dcterms:created xsi:type="dcterms:W3CDTF">2026-02-06T09:28:37Z</dcterms:created>
  <dcterms:modified xsi:type="dcterms:W3CDTF">2026-02-06T12:46:56Z</dcterms:modified>
</cp:coreProperties>
</file>